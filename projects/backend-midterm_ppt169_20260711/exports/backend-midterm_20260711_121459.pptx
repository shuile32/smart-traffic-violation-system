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D1F3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3238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409EFF">
                <a:alpha val="5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23950" y="2055495"/>
            <a:ext cx="444825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后端开发进度汇报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5380" y="2886075"/>
            <a:ext cx="33917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8899AA"/>
                </a:solidFill>
                <a:latin typeface="Segoe UI"/>
                <a:ea typeface="Segoe UI"/>
                <a:cs typeface="Segoe UI"/>
              </a:rPr>
              <a:t>FastAPI + SQLAlchemy + JWT/RBAC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6142" y="3569018"/>
            <a:ext cx="37773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6677"/>
                </a:solidFill>
                <a:latin typeface="Segoe UI"/>
                <a:ea typeface="Microsoft YaHei"/>
                <a:cs typeface="Segoe UI"/>
              </a:rPr>
              <a:t>基于 AI 的交通违章智能管理平台 · 中期答辩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904" y="5204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后端开发：杨翼、张浩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7666" y="5506402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56677"/>
                </a:solidFill>
                <a:latin typeface="Segoe UI"/>
                <a:ea typeface="Segoe UI"/>
                <a:cs typeface="Segoe UI"/>
              </a:rPr>
              <a:t>2026.07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19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01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21750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后端 API 全览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404" y="632460"/>
            <a:ext cx="3008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18 个核心端点 · 5 大业务模块 · 完整闭环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904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64642" y="11877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API 端点清单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476375"/>
            <a:ext cx="5143500" cy="3124200"/>
            <a:chOff x="571500" y="1476375"/>
            <a:chExt cx="5143500" cy="3124200"/>
          </a:xfrm>
        </p:grpSpPr>
        <p:sp>
          <p:nvSpPr>
            <p:cNvPr id="8" name="Rectangle 8"/>
            <p:cNvSpPr/>
            <p:nvPr/>
          </p:nvSpPr>
          <p:spPr>
            <a:xfrm>
              <a:off x="571500" y="1476375"/>
              <a:ext cx="5143500" cy="266700"/>
            </a:xfrm>
            <a:prstGeom prst="roundRect">
              <a:avLst>
                <a:gd name="adj" fmla="val 14286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9422" y="15520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8047" y="1552099"/>
              <a:ext cx="2654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/api/v1/auth/login, /register, /auth/me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7047" y="15520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登录鉴权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781175"/>
              <a:ext cx="5143500" cy="26670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9422" y="18568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1856899"/>
              <a:ext cx="2116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/api/v1/intakes/citizen-reports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7047" y="18568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图片摄入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085975"/>
              <a:ext cx="5143500" cy="266700"/>
            </a:xfrm>
            <a:prstGeom prst="roundRect">
              <a:avLst>
                <a:gd name="adj" fmla="val 14286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422" y="21616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047" y="2161699"/>
              <a:ext cx="1998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/api/v1/intakes/admin-uploads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7047" y="21616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管理员上传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2390775"/>
              <a:ext cx="5143500" cy="26670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422" y="24664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8047" y="2466499"/>
              <a:ext cx="2208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/api/v1/intakes/camera-captures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7047" y="24664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摄像头推送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2809875"/>
              <a:ext cx="5143500" cy="266700"/>
            </a:xfrm>
            <a:prstGeom prst="roundRect">
              <a:avLst>
                <a:gd name="adj" fmla="val 14286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9422" y="28855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8047" y="2885599"/>
              <a:ext cx="1788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/api/v1/cases, /cases/{id}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7047" y="28855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案件管理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114675"/>
              <a:ext cx="5143500" cy="26670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9422" y="31903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8047" y="3190399"/>
              <a:ext cx="2405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/api/v1/cases/{id}/approve, /reject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7047" y="31903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审核工作流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3419475"/>
              <a:ext cx="5143500" cy="266700"/>
            </a:xfrm>
            <a:prstGeom prst="roundRect">
              <a:avLst>
                <a:gd name="adj" fmla="val 14286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9422" y="34951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8047" y="3495199"/>
              <a:ext cx="2845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/api/v1/violations, /owners/{id}/violations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7047" y="34951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违章归档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724275"/>
              <a:ext cx="5143500" cy="26670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422" y="37999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8047" y="3799999"/>
              <a:ext cx="308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/api/v1/statistics/overview, by-time, by-type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7047" y="37999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统计分析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029075"/>
              <a:ext cx="5143500" cy="266700"/>
            </a:xfrm>
            <a:prstGeom prst="roundRect">
              <a:avLst>
                <a:gd name="adj" fmla="val 14286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422" y="41047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8047" y="4104799"/>
              <a:ext cx="2917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/internal/ai/yolo/detect, ocr, rules, review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7047" y="4104799"/>
              <a:ext cx="872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AI 接口(stub)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4333875"/>
              <a:ext cx="5143500" cy="26670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9422" y="4409599"/>
              <a:ext cx="3150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CRUD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8047" y="4409599"/>
              <a:ext cx="25759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/admin/users, cameras, vehicles, rules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67047" y="44095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系统管理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6191250" y="1143000"/>
            <a:ext cx="5429250" cy="1238250"/>
          </a:xfrm>
          <a:prstGeom prst="roundRect">
            <a:avLst>
              <a:gd name="adj" fmla="val 615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470142" y="13306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核心业务闭环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472047" y="1656874"/>
            <a:ext cx="4017874" cy="666940"/>
            <a:chOff x="6472047" y="1656874"/>
            <a:chExt cx="4017874" cy="666940"/>
          </a:xfrm>
        </p:grpSpPr>
        <p:sp>
          <p:nvSpPr>
            <p:cNvPr id="51" name="TextBox 51"/>
            <p:cNvSpPr txBox="1"/>
            <p:nvPr/>
          </p:nvSpPr>
          <p:spPr>
            <a:xfrm>
              <a:off x="6472047" y="1656874"/>
              <a:ext cx="4017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图片摄入 → 案件生成 → AI 初审 → 人工审核 → 违章归档 → 通知统计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2047" y="1894999"/>
              <a:ext cx="3495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SHA-256 去重 · JWT/RBAC 四角色 · 摄像头 API Key 鉴权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2047" y="2133124"/>
              <a:ext cx="3350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审核通过自动生成违章 + 发放奖励 + 邮件通知 + 审计日志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6191250" y="2571750"/>
            <a:ext cx="542925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470142" y="2759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关键数据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6662166" y="3077528"/>
            <a:ext cx="3332630" cy="424433"/>
            <a:chOff x="6662166" y="3077528"/>
            <a:chExt cx="3332630" cy="424433"/>
          </a:xfrm>
        </p:grpSpPr>
        <p:sp>
          <p:nvSpPr>
            <p:cNvPr id="57" name="TextBox 57"/>
            <p:cNvSpPr txBox="1"/>
            <p:nvPr/>
          </p:nvSpPr>
          <p:spPr>
            <a:xfrm>
              <a:off x="6662166" y="3077528"/>
              <a:ext cx="3332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18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个 API 端点 · </a:t>
              </a:r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205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自动化测试 · </a:t>
              </a:r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17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张数据库表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2166" y="3296602"/>
              <a:ext cx="2994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4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角色 RBAC · </a:t>
              </a:r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3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摄入来源 · </a:t>
              </a:r>
              <a:r>
                <a:rPr lang="en-US" sz="105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9</a:t>
              </a:r>
              <a:r>
                <a:rPr lang="zh-CN" sz="105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次 Alembic 迁移</a:t>
              </a:r>
            </a:p>
          </p:txBody>
        </p:sp>
      </p:grpSp>
      <p:sp>
        <p:nvSpPr>
          <p:cNvPr id="60" name="Rectangle 60"/>
          <p:cNvSpPr/>
          <p:nvPr/>
        </p:nvSpPr>
        <p:spPr>
          <a:xfrm>
            <a:off x="6191250" y="3714750"/>
            <a:ext cx="5429250" cy="1047750"/>
          </a:xfrm>
          <a:prstGeom prst="roundRect">
            <a:avLst>
              <a:gd name="adj" fmla="val 7273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470142" y="3902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技术栈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662547" y="4228624"/>
            <a:ext cx="3187346" cy="571690"/>
            <a:chOff x="6662547" y="4228624"/>
            <a:chExt cx="3187346" cy="571690"/>
          </a:xfrm>
        </p:grpSpPr>
        <p:sp>
          <p:nvSpPr>
            <p:cNvPr id="62" name="TextBox 62"/>
            <p:cNvSpPr txBox="1"/>
            <p:nvPr/>
          </p:nvSpPr>
          <p:spPr>
            <a:xfrm>
              <a:off x="6662547" y="4228624"/>
              <a:ext cx="31873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FastAPI + Uvicorn · SQLAlchemy 2.0 · Pydantic v2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62547" y="4419124"/>
              <a:ext cx="3155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JWT (python-jose) · bcrypt · Alembic · PyMySQL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2547" y="4609624"/>
              <a:ext cx="28466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Celery + Redis · Pytest + httpx · MySQL 8.0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02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49171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登录鉴权 — JWT + RBAC 四角色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857250"/>
          </a:xfrm>
          <a:prstGeom prst="roundRect">
            <a:avLst>
              <a:gd name="adj" fmla="val 8889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认证机制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9541" y="1458278"/>
            <a:ext cx="2333092" cy="424433"/>
            <a:chOff x="899541" y="1458278"/>
            <a:chExt cx="2333092" cy="424433"/>
          </a:xfrm>
        </p:grpSpPr>
        <p:sp>
          <p:nvSpPr>
            <p:cNvPr id="8" name="TextBox 8"/>
            <p:cNvSpPr txBox="1"/>
            <p:nvPr/>
          </p:nvSpPr>
          <p:spPr>
            <a:xfrm>
              <a:off x="899541" y="1458278"/>
              <a:ext cx="233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JWT 无状态认证，60 分钟自动过期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541" y="1677352"/>
              <a:ext cx="193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bcrypt 密码哈希，不明文存储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571500" y="20955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5904" y="2251710"/>
            <a:ext cx="9979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RBAC 四角色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99541" y="2506028"/>
            <a:ext cx="3092120" cy="862583"/>
            <a:chOff x="899541" y="2506028"/>
            <a:chExt cx="3092120" cy="862583"/>
          </a:xfrm>
        </p:grpSpPr>
        <p:sp>
          <p:nvSpPr>
            <p:cNvPr id="13" name="TextBox 13"/>
            <p:cNvSpPr txBox="1"/>
            <p:nvPr/>
          </p:nvSpPr>
          <p:spPr>
            <a:xfrm>
              <a:off x="899541" y="2506028"/>
              <a:ext cx="30921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citizen</a:t>
              </a:r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 xml:space="preserve"> — 随手拍举报 · 查看自己违章 · 车辆绑定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541" y="2725102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reviewer</a:t>
              </a:r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 xml:space="preserve"> — 审核案件 · 查看统计 · 上传证据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541" y="2944178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56C6C"/>
                  </a:solidFill>
                  <a:latin typeface="Segoe UI"/>
                  <a:ea typeface="Segoe UI"/>
                  <a:cs typeface="Segoe UI"/>
                </a:rPr>
                <a:t>admin</a:t>
              </a:r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 xml:space="preserve"> — 全部权限 + 管理用户/摄像头/规则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3163252"/>
              <a:ext cx="2646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899AA"/>
                  </a:solidFill>
                  <a:latin typeface="Segoe UI"/>
                  <a:ea typeface="Segoe UI"/>
                  <a:cs typeface="Segoe UI"/>
                </a:rPr>
                <a:t>camera</a:t>
              </a:r>
              <a:r>
                <a:rPr lang="zh-CN" sz="105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 xml:space="preserve"> — 仅可推送图片（API Key 鉴权）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571500" y="352425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5904" y="3680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鉴权实现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0112" y="3903345"/>
            <a:ext cx="3946047" cy="747712"/>
            <a:chOff x="900112" y="3903345"/>
            <a:chExt cx="3946047" cy="747712"/>
          </a:xfrm>
        </p:grpSpPr>
        <p:sp>
          <p:nvSpPr>
            <p:cNvPr id="20" name="TextBox 20"/>
            <p:cNvSpPr txBox="1"/>
            <p:nvPr/>
          </p:nvSpPr>
          <p:spPr>
            <a:xfrm>
              <a:off x="900112" y="3903345"/>
              <a:ext cx="2408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 app.core.deps </a:t>
              </a:r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 require_role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09384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@router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.post(</a:t>
              </a:r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"/cases/{id}/approve"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4284345"/>
              <a:ext cx="3946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approve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(user:</a:t>
              </a:r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 xml:space="preserve"> Depends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(require_role(</a:t>
              </a:r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"reviewer","admin"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))):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4474845"/>
              <a:ext cx="30236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return ReviewService(db, provider).approve(...)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6286500" y="1047750"/>
            <a:ext cx="5334000" cy="2667000"/>
          </a:xfrm>
          <a:prstGeom prst="roundRect">
            <a:avLst>
              <a:gd name="adj" fmla="val 2857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18529" y="1203960"/>
            <a:ext cx="20489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POST /api/v1/auth/login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519862" y="1522095"/>
            <a:ext cx="4029038" cy="2195512"/>
            <a:chOff x="6519862" y="1522095"/>
            <a:chExt cx="4029038" cy="2195512"/>
          </a:xfrm>
        </p:grpSpPr>
        <p:sp>
          <p:nvSpPr>
            <p:cNvPr id="27" name="TextBox 27"/>
            <p:cNvSpPr txBox="1"/>
            <p:nvPr/>
          </p:nvSpPr>
          <p:spPr>
            <a:xfrm>
              <a:off x="6519862" y="1522095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请求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5112" y="1731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7988" y="1922145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"username"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0488" y="1922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738" y="1922145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"admin"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238" y="1922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7988" y="2112645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"password"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0488" y="2112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738" y="21126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"admin1234"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5112" y="2303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862" y="2569845"/>
              <a:ext cx="899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响应 200 OK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5112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7988" y="2969895"/>
              <a:ext cx="9424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"access_token"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988" y="2969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6238" y="2969895"/>
              <a:ext cx="1558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"eyJhbGciOiJIUzI1NiIs..."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01238" y="2969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7988" y="3160395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"token_type"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00988" y="3160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96238" y="316039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"bearer"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01238" y="3160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57988" y="3350895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"user"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00988" y="3350895"/>
              <a:ext cx="1791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{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6238" y="335089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"id"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7238" y="335089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1,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53488" y="335089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"role_code"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05988" y="3350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01238" y="3350895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"admin"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72738" y="3350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5112" y="3541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57" name="Rectangle 57"/>
          <p:cNvSpPr/>
          <p:nvPr/>
        </p:nvSpPr>
        <p:spPr>
          <a:xfrm>
            <a:off x="6286500" y="3905250"/>
            <a:ext cx="5334000" cy="1333500"/>
          </a:xfrm>
          <a:prstGeom prst="roundRect">
            <a:avLst>
              <a:gd name="adj" fmla="val 571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518529" y="4061460"/>
            <a:ext cx="1756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GET /api/v1/auth/me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6519862" y="4379595"/>
            <a:ext cx="4695788" cy="747712"/>
            <a:chOff x="6519862" y="4379595"/>
            <a:chExt cx="4695788" cy="747712"/>
          </a:xfrm>
        </p:grpSpPr>
        <p:sp>
          <p:nvSpPr>
            <p:cNvPr id="59" name="TextBox 59"/>
            <p:cNvSpPr txBox="1"/>
            <p:nvPr/>
          </p:nvSpPr>
          <p:spPr>
            <a:xfrm>
              <a:off x="6519862" y="4379595"/>
              <a:ext cx="1938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// Authorization: Bearer eyJ...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19862" y="4665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5112" y="466534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"id"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43738" y="466534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1,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9988" y="4665345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"username"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67738" y="4665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62988" y="4665345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"admin"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29738" y="4665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20238" y="466534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"role_code"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72738" y="4665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67988" y="4665345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"admin"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39488" y="4665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19862" y="4951095"/>
              <a:ext cx="2341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Consolas"/>
                  <a:ea typeface="Microsoft YaHei"/>
                  <a:cs typeface="Consolas"/>
                </a:rPr>
                <a:t>→ 无 token 返回 401 · 角色不匹配返回 403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03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52147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图片摄入 — 三来源接入 + 安全机制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市民随手拍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9922" y="1447324"/>
            <a:ext cx="4471492" cy="381190"/>
            <a:chOff x="899922" y="1447324"/>
            <a:chExt cx="4471492" cy="381190"/>
          </a:xfrm>
        </p:grpSpPr>
        <p:sp>
          <p:nvSpPr>
            <p:cNvPr id="8" name="TextBox 8"/>
            <p:cNvSpPr txBox="1"/>
            <p:nvPr/>
          </p:nvSpPr>
          <p:spPr>
            <a:xfrm>
              <a:off x="899922" y="1447324"/>
              <a:ext cx="44714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POST /api/v1/intakes/citizen-reports · citizen JWT · 描述+地点+图片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922" y="1637824"/>
              <a:ext cx="1302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→ 审核通过后发放奖励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571500" y="195262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5904" y="210883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管理员手动上传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99922" y="2352199"/>
            <a:ext cx="3818245" cy="381190"/>
            <a:chOff x="899922" y="2352199"/>
            <a:chExt cx="3818245" cy="381190"/>
          </a:xfrm>
        </p:grpSpPr>
        <p:sp>
          <p:nvSpPr>
            <p:cNvPr id="13" name="TextBox 13"/>
            <p:cNvSpPr txBox="1"/>
            <p:nvPr/>
          </p:nvSpPr>
          <p:spPr>
            <a:xfrm>
              <a:off x="899922" y="2352199"/>
              <a:ext cx="3818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Segoe UI"/>
                  <a:ea typeface="Segoe UI"/>
                  <a:cs typeface="Segoe UI"/>
                </a:rPr>
                <a:t>POST /api/v1/intakes/admin-uploads · admin/reviewer JWT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922" y="2542699"/>
              <a:ext cx="1696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→ 用于补充证据、测试等场景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285750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5904" y="301371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摄像头自动推送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99922" y="3257074"/>
            <a:ext cx="4080358" cy="381190"/>
            <a:chOff x="899922" y="3257074"/>
            <a:chExt cx="4080358" cy="381190"/>
          </a:xfrm>
        </p:grpSpPr>
        <p:sp>
          <p:nvSpPr>
            <p:cNvPr id="18" name="TextBox 18"/>
            <p:cNvSpPr txBox="1"/>
            <p:nvPr/>
          </p:nvSpPr>
          <p:spPr>
            <a:xfrm>
              <a:off x="899922" y="3257074"/>
              <a:ext cx="4080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POST /api/v1/intakes/camera-captures · X-Camera-Key 头鉴权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9922" y="3447574"/>
              <a:ext cx="300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→ SHA-256(Key) 比对 · 可附加车速 · 吊销后 401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571500" y="38100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904" y="3966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安全防护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9922" y="4238149"/>
            <a:ext cx="3488893" cy="847915"/>
            <a:chOff x="899922" y="4238149"/>
            <a:chExt cx="3488893" cy="847915"/>
          </a:xfrm>
        </p:grpSpPr>
        <p:sp>
          <p:nvSpPr>
            <p:cNvPr id="23" name="TextBox 23"/>
            <p:cNvSpPr txBox="1"/>
            <p:nvPr/>
          </p:nvSpPr>
          <p:spPr>
            <a:xfrm>
              <a:off x="899922" y="4238149"/>
              <a:ext cx="27974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🔐 SHA-256 图片哈希去重 → 相同图片返回 409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922" y="4457224"/>
              <a:ext cx="3488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🛡️ Magic Byte MIME 校验 → 非 JPEG/PNG/WebP 返回 400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922" y="4676299"/>
              <a:ext cx="2325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📏 单文件上限 10MB · 单次单文件上传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922" y="4895374"/>
              <a:ext cx="2529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🔑 API Key 只存哈希，原始密钥仅返回一次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6286500" y="1047750"/>
            <a:ext cx="5334000" cy="3048000"/>
          </a:xfrm>
          <a:prstGeom prst="roundRect">
            <a:avLst>
              <a:gd name="adj" fmla="val 25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18529" y="1203960"/>
            <a:ext cx="32174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POST /api/v1/intakes/citizen-reports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519862" y="1569720"/>
            <a:ext cx="3457538" cy="2557462"/>
            <a:chOff x="6519862" y="1569720"/>
            <a:chExt cx="3457538" cy="2557462"/>
          </a:xfrm>
        </p:grpSpPr>
        <p:sp>
          <p:nvSpPr>
            <p:cNvPr id="30" name="TextBox 30"/>
            <p:cNvSpPr txBox="1"/>
            <p:nvPr/>
          </p:nvSpPr>
          <p:spPr>
            <a:xfrm>
              <a:off x="6519862" y="1569720"/>
              <a:ext cx="2345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// Content-Type: multipart/form-data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9862" y="1807845"/>
              <a:ext cx="22547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// image: evidence.jpg (JPEG, 245KB)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9862" y="2045970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location_text: "深圳市南山区科技园"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9862" y="2331720"/>
              <a:ext cx="899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响应 200 OK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5112" y="2588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7988" y="280797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"case_id"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10488" y="28079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5738" y="28079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8612" y="28079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7988" y="3027045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"case_no"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10488" y="3027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5738" y="3027045"/>
              <a:ext cx="1417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"CASE20260710000003"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01238" y="3027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7988" y="3246120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"status"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0488" y="32461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738" y="324612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56C6C"/>
                  </a:solidFill>
                  <a:latin typeface="Consolas"/>
                  <a:ea typeface="Consolas"/>
                  <a:cs typeface="Consolas"/>
                </a:rPr>
                <a:t>"uploaded"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01238" y="32461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57988" y="346519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"message"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0488" y="34651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5738" y="3465195"/>
              <a:ext cx="1354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"图片已接收，等待处理"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5112" y="3684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19862" y="3950970"/>
              <a:ext cx="2083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Consolas"/>
                  <a:ea typeface="Microsoft YaHei"/>
                  <a:cs typeface="Consolas"/>
                </a:rPr>
                <a:t>→ 相同图片再次上传返回 409 Conflict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286500" y="4286250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18529" y="444246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摄像头鉴权测试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519862" y="4760595"/>
            <a:ext cx="3240427" cy="414337"/>
            <a:chOff x="6519862" y="4760595"/>
            <a:chExt cx="3240427" cy="414337"/>
          </a:xfrm>
        </p:grpSpPr>
        <p:sp>
          <p:nvSpPr>
            <p:cNvPr id="55" name="TextBox 55"/>
            <p:cNvSpPr txBox="1"/>
            <p:nvPr/>
          </p:nvSpPr>
          <p:spPr>
            <a:xfrm>
              <a:off x="6519862" y="4760595"/>
              <a:ext cx="32404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X-Camera-Key: sk-a1b2c3... → 200 OK (case created)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9862" y="4998720"/>
              <a:ext cx="27019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X-Camera-Key: (revoked) → 401 Unauthorized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04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414617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审核工作流 — 案件审批链路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6753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审核 API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99922" y="1494949"/>
            <a:ext cx="4368403" cy="1143190"/>
            <a:chOff x="899922" y="1494949"/>
            <a:chExt cx="4368403" cy="1143190"/>
          </a:xfrm>
        </p:grpSpPr>
        <p:sp>
          <p:nvSpPr>
            <p:cNvPr id="8" name="TextBox 8"/>
            <p:cNvSpPr txBox="1"/>
            <p:nvPr/>
          </p:nvSpPr>
          <p:spPr>
            <a:xfrm>
              <a:off x="899922" y="149494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8547" y="1494949"/>
              <a:ext cx="915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494949"/>
              <a:ext cx="1749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分页 + 状态/来源/关键词过滤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922" y="1733074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8547" y="1733074"/>
              <a:ext cx="1243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/api/v1/cases/{id}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9297" y="1733074"/>
              <a:ext cx="1715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完整详情（媒体 + AI 结果）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922" y="19711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8547" y="1971199"/>
              <a:ext cx="1821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/api/v1/cases/{id}/approve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9297" y="19711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审核通过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922" y="2209324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8547" y="2209324"/>
              <a:ext cx="1716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/api/v1/cases/{id}/reject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9297" y="220932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驳回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9922" y="244744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8547" y="2447449"/>
              <a:ext cx="2398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/api/v1/cases/{id}/request-recheck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9297" y="2447449"/>
              <a:ext cx="872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AI 重检(stub)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27622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5904" y="2918460"/>
            <a:ext cx="17084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审核通过后的自动化链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99922" y="3228499"/>
            <a:ext cx="3737534" cy="1143190"/>
            <a:chOff x="899922" y="3228499"/>
            <a:chExt cx="3737534" cy="1143190"/>
          </a:xfrm>
        </p:grpSpPr>
        <p:sp>
          <p:nvSpPr>
            <p:cNvPr id="26" name="TextBox 26"/>
            <p:cNvSpPr txBox="1"/>
            <p:nvPr/>
          </p:nvSpPr>
          <p:spPr>
            <a:xfrm>
              <a:off x="899922" y="3228499"/>
              <a:ext cx="3737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1. approve 写入 plate_no / violation_type / review_opinion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922" y="3466624"/>
              <a:ext cx="3362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2. 创建 Violation (violation_no = VIO{date}{id:06d})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922" y="3704749"/>
              <a:ext cx="2593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3. 查找 Vehicle → 获取 Owner → 查询 email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9922" y="3942874"/>
              <a:ext cx="2964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4. 填充 notification_template → SMTP 发送邮件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9922" y="4180999"/>
              <a:ext cx="2965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5. 若为 citizen 举报 → grant Reward (固定金额)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571500" y="457200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5904" y="4728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容错策略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99922" y="4990624"/>
            <a:ext cx="4555128" cy="409765"/>
            <a:chOff x="899922" y="4990624"/>
            <a:chExt cx="4555128" cy="409765"/>
          </a:xfrm>
        </p:grpSpPr>
        <p:sp>
          <p:nvSpPr>
            <p:cNvPr id="34" name="TextBox 34"/>
            <p:cNvSpPr txBox="1"/>
            <p:nvPr/>
          </p:nvSpPr>
          <p:spPr>
            <a:xfrm>
              <a:off x="899922" y="4990624"/>
              <a:ext cx="455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通知失败不阻断归档 · 无车主 → violation 依然创建 · 所有操作写入 AuditLog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9922" y="5209699"/>
              <a:ext cx="4039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任何未完结状态 (uploaded/detecting/ai_reviewing) 均可直接审核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6286500" y="104775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518529" y="1203960"/>
            <a:ext cx="28397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POST /api/v1/cases/{id}/approve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519862" y="1522095"/>
            <a:ext cx="3457538" cy="1985962"/>
            <a:chOff x="6519862" y="1522095"/>
            <a:chExt cx="3457538" cy="1985962"/>
          </a:xfrm>
        </p:grpSpPr>
        <p:sp>
          <p:nvSpPr>
            <p:cNvPr id="39" name="TextBox 39"/>
            <p:cNvSpPr txBox="1"/>
            <p:nvPr/>
          </p:nvSpPr>
          <p:spPr>
            <a:xfrm>
              <a:off x="6519862" y="1522095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请求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5112" y="17602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7988" y="197929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"plate_no"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988" y="1979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6238" y="1979295"/>
              <a:ext cx="8416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"粤B-TEST01"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01238" y="1979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7988" y="2198370"/>
              <a:ext cx="98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"violation_type"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0988" y="2198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6238" y="219837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"speeding"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01238" y="2198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7988" y="24174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"fine_amount"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00988" y="2417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6238" y="24174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200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01238" y="2417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57988" y="2636520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"points"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00988" y="26365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6238" y="26365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01238" y="26365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57988" y="2855595"/>
              <a:ext cx="1009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"review_opinion"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00988" y="2855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6238" y="2855595"/>
              <a:ext cx="627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"超速属实"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5112" y="30746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19862" y="3331845"/>
              <a:ext cx="899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响应 200 OK</a:t>
              </a:r>
            </a:p>
          </p:txBody>
        </p:sp>
      </p:grpSp>
      <p:sp>
        <p:nvSpPr>
          <p:cNvPr id="63" name="Rectangle 63"/>
          <p:cNvSpPr/>
          <p:nvPr/>
        </p:nvSpPr>
        <p:spPr>
          <a:xfrm>
            <a:off x="6286500" y="37147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519291" y="3839528"/>
            <a:ext cx="10778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// approve 响应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6519862" y="4141470"/>
            <a:ext cx="3933788" cy="1319212"/>
            <a:chOff x="6519862" y="4141470"/>
            <a:chExt cx="3933788" cy="1319212"/>
          </a:xfrm>
        </p:grpSpPr>
        <p:sp>
          <p:nvSpPr>
            <p:cNvPr id="65" name="TextBox 65"/>
            <p:cNvSpPr txBox="1"/>
            <p:nvPr/>
          </p:nvSpPr>
          <p:spPr>
            <a:xfrm>
              <a:off x="6615112" y="41414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57988" y="4360545"/>
              <a:ext cx="851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"violation_no"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86738" y="4360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81988" y="4360545"/>
              <a:ext cx="13408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"VIO20260710000002"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77488" y="4360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57988" y="4579620"/>
              <a:ext cx="1318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"notification_status"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86738" y="45796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81988" y="457962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56C6C"/>
                  </a:solidFill>
                  <a:latin typeface="Consolas"/>
                  <a:ea typeface="Consolas"/>
                  <a:cs typeface="Consolas"/>
                </a:rPr>
                <a:t>"pending"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77488" y="45796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57988" y="47986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"reward_id"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86738" y="47986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1988" y="47986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15112" y="50177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19862" y="5284470"/>
              <a:ext cx="31348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Consolas"/>
                  <a:ea typeface="Microsoft YaHei"/>
                  <a:cs typeface="Consolas"/>
                </a:rPr>
                <a:t>→ reject 只需 {"reject_reason":"证据不足"} → 200 OK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05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31284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违章归档 + 通知奖励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10337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违章查询 API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99922" y="1513999"/>
            <a:ext cx="4237149" cy="990790"/>
            <a:chOff x="899922" y="1513999"/>
            <a:chExt cx="4237149" cy="990790"/>
          </a:xfrm>
        </p:grpSpPr>
        <p:sp>
          <p:nvSpPr>
            <p:cNvPr id="8" name="TextBox 8"/>
            <p:cNvSpPr txBox="1"/>
            <p:nvPr/>
          </p:nvSpPr>
          <p:spPr>
            <a:xfrm>
              <a:off x="899922" y="15139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8547" y="1513999"/>
              <a:ext cx="1178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/api/v1/violations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513999"/>
              <a:ext cx="1617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分页 + 车牌/类型/状态过滤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922" y="17806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8547" y="1780699"/>
              <a:ext cx="1506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/api/v1/violations/{id}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9297" y="17806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单条详情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922" y="20473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8547" y="2047399"/>
              <a:ext cx="2037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/api/v1/owners/{id}/violations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4547" y="20473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按车主查询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922" y="2314099"/>
              <a:ext cx="2858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citizen 仅查看自己 · reviewer/admin 查看全部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2762250"/>
            <a:ext cx="5334000" cy="1333500"/>
          </a:xfrm>
          <a:prstGeom prst="roundRect">
            <a:avLst>
              <a:gd name="adj" fmla="val 571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55904" y="2918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通知机制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9922" y="3209449"/>
            <a:ext cx="3199390" cy="905065"/>
            <a:chOff x="899922" y="3209449"/>
            <a:chExt cx="3199390" cy="905065"/>
          </a:xfrm>
        </p:grpSpPr>
        <p:sp>
          <p:nvSpPr>
            <p:cNvPr id="21" name="TextBox 21"/>
            <p:cNvSpPr txBox="1"/>
            <p:nvPr/>
          </p:nvSpPr>
          <p:spPr>
            <a:xfrm>
              <a:off x="899922" y="3209449"/>
              <a:ext cx="2303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EmailSmtpProvider — 真实 SMTP 发送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922" y="3447574"/>
              <a:ext cx="256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FakeNotificationProvider — 测试用假发送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922" y="3685699"/>
              <a:ext cx="3199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notification_templates 模板渲染 → 可配置启用/禁用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922" y="3923824"/>
              <a:ext cx="2228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Notification 记录写入 DB → 支持重试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4286250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5904" y="4442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奖励机制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99922" y="4704874"/>
            <a:ext cx="3625191" cy="428815"/>
            <a:chOff x="899922" y="4704874"/>
            <a:chExt cx="3625191" cy="428815"/>
          </a:xfrm>
        </p:grpSpPr>
        <p:sp>
          <p:nvSpPr>
            <p:cNvPr id="28" name="TextBox 28"/>
            <p:cNvSpPr txBox="1"/>
            <p:nvPr/>
          </p:nvSpPr>
          <p:spPr>
            <a:xfrm>
              <a:off x="899922" y="4704874"/>
              <a:ext cx="3625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citizen 举报审核通过 → REWARD_DEFAULT_AMOUNT (10元)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9922" y="4942999"/>
              <a:ext cx="2992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reward 记录写入 DB → GET /admin/rewards 查询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6286500" y="1047750"/>
            <a:ext cx="5334000" cy="2190750"/>
          </a:xfrm>
          <a:prstGeom prst="roundRect">
            <a:avLst>
              <a:gd name="adj" fmla="val 3478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18529" y="1203960"/>
            <a:ext cx="1870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GET /api/v1/violations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519862" y="1522095"/>
            <a:ext cx="3838538" cy="1976437"/>
            <a:chOff x="6519862" y="1522095"/>
            <a:chExt cx="3838538" cy="1976437"/>
          </a:xfrm>
        </p:grpSpPr>
        <p:sp>
          <p:nvSpPr>
            <p:cNvPr id="33" name="TextBox 33"/>
            <p:cNvSpPr txBox="1"/>
            <p:nvPr/>
          </p:nvSpPr>
          <p:spPr>
            <a:xfrm>
              <a:off x="6519862" y="1522095"/>
              <a:ext cx="899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响应 200 OK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5112" y="1788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7988" y="2007870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"items"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4738" y="2007870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[{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8488" y="2226945"/>
              <a:ext cx="851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"violation_no"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6738" y="22269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988" y="2226945"/>
              <a:ext cx="13408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"VIO20260710000001"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82238" y="22269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8488" y="244602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"plate_no"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6738" y="24460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1988" y="2446020"/>
              <a:ext cx="8416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"粤B-TEST01"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82238" y="24460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8488" y="2665095"/>
              <a:ext cx="98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"violation_type"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6738" y="2665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1988" y="266509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56C6C"/>
                  </a:solidFill>
                  <a:latin typeface="Consolas"/>
                  <a:ea typeface="Consolas"/>
                  <a:cs typeface="Consolas"/>
                </a:rPr>
                <a:t>"speeding"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82238" y="2665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48488" y="288417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"fine_amount"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6738" y="2884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1988" y="288417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200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82238" y="2884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48488" y="3103245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"points"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86738" y="3103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81988" y="3103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57988" y="332232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}],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57988" y="332232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"total"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4738" y="3322320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2,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00988" y="332232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"page"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77238" y="3322320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1}</a:t>
              </a:r>
            </a:p>
          </p:txBody>
        </p:sp>
      </p:grpSp>
      <p:sp>
        <p:nvSpPr>
          <p:cNvPr id="62" name="Rectangle 62"/>
          <p:cNvSpPr/>
          <p:nvPr/>
        </p:nvSpPr>
        <p:spPr>
          <a:xfrm>
            <a:off x="6286500" y="3429000"/>
            <a:ext cx="5334000" cy="1714500"/>
          </a:xfrm>
          <a:prstGeom prst="roundRect">
            <a:avLst>
              <a:gd name="adj" fmla="val 444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18529" y="3585210"/>
            <a:ext cx="2983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GET /api/v1/owners/{id}/violations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6519862" y="3903345"/>
            <a:ext cx="2559901" cy="1357312"/>
            <a:chOff x="6519862" y="3903345"/>
            <a:chExt cx="2559901" cy="1357312"/>
          </a:xfrm>
        </p:grpSpPr>
        <p:sp>
          <p:nvSpPr>
            <p:cNvPr id="64" name="TextBox 64"/>
            <p:cNvSpPr txBox="1"/>
            <p:nvPr/>
          </p:nvSpPr>
          <p:spPr>
            <a:xfrm>
              <a:off x="6519862" y="3903345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citizen 只能看自己的，admin 可看任意车主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19862" y="4189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5112" y="4427220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"items"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24738" y="4427220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[...],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5112" y="46462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"total"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4738" y="464629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2,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5112" y="486537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"page"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24738" y="4865370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1,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15112" y="508444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"page_size"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24738" y="508444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20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06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414617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统计分析 — 四维度聚合查询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1809750"/>
          </a:xfrm>
          <a:prstGeom prst="roundRect">
            <a:avLst>
              <a:gd name="adj" fmla="val 4211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四个统计端点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99922" y="1533049"/>
            <a:ext cx="5317646" cy="1438465"/>
            <a:chOff x="899922" y="1533049"/>
            <a:chExt cx="5317646" cy="1438465"/>
          </a:xfrm>
        </p:grpSpPr>
        <p:sp>
          <p:nvSpPr>
            <p:cNvPr id="8" name="TextBox 8"/>
            <p:cNvSpPr txBox="1"/>
            <p:nvPr/>
          </p:nvSpPr>
          <p:spPr>
            <a:xfrm>
              <a:off x="899922" y="153304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8547" y="1533049"/>
              <a:ext cx="185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/api/v1/statistics/overview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5547" y="153304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总览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797" y="1771174"/>
              <a:ext cx="5174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total_cases · approved_count · rejected_count · pending_count · approval_rate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922" y="2037874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8547" y="2037874"/>
              <a:ext cx="17818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/api/v1/statistics/by-time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5547" y="203787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按日期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2797" y="2275999"/>
              <a:ext cx="33176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cast(created_at as Date) 日聚合 → [{date, count}]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922" y="2542699"/>
              <a:ext cx="238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8547" y="2542699"/>
              <a:ext cx="1788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/api/v1/statistics/by-type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5547" y="2542699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按类型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797" y="2780824"/>
              <a:ext cx="3881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violation_type 分组 → [{violation_type, count, percentage}]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571500" y="3048000"/>
            <a:ext cx="5334000" cy="857250"/>
          </a:xfrm>
          <a:prstGeom prst="roundRect">
            <a:avLst>
              <a:gd name="adj" fmla="val 8889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904" y="3204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9922" y="3495199"/>
            <a:ext cx="4065670" cy="409765"/>
            <a:chOff x="899922" y="3495199"/>
            <a:chExt cx="4065670" cy="409765"/>
          </a:xfrm>
        </p:grpSpPr>
        <p:sp>
          <p:nvSpPr>
            <p:cNvPr id="23" name="TextBox 23"/>
            <p:cNvSpPr txBox="1"/>
            <p:nvPr/>
          </p:nvSpPr>
          <p:spPr>
            <a:xfrm>
              <a:off x="899922" y="3495199"/>
              <a:ext cx="2814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overview 查 Case 表，其他三个查 Violation 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922" y="3714274"/>
              <a:ext cx="4065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默认时间范围 2000-01-01 ~ now · 支持 start_time/end_time 过滤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286500" y="1047750"/>
            <a:ext cx="5334000" cy="2381250"/>
          </a:xfrm>
          <a:prstGeom prst="roundRect">
            <a:avLst>
              <a:gd name="adj" fmla="val 32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18529" y="1203960"/>
            <a:ext cx="27445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GET /api/v1/statistics/overview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519862" y="1569720"/>
            <a:ext cx="4981538" cy="2109787"/>
            <a:chOff x="6519862" y="1569720"/>
            <a:chExt cx="4981538" cy="2109787"/>
          </a:xfrm>
        </p:grpSpPr>
        <p:sp>
          <p:nvSpPr>
            <p:cNvPr id="28" name="TextBox 28"/>
            <p:cNvSpPr txBox="1"/>
            <p:nvPr/>
          </p:nvSpPr>
          <p:spPr>
            <a:xfrm>
              <a:off x="6519862" y="1569720"/>
              <a:ext cx="899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响应 200 OK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15112" y="18364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7988" y="2074545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"total_cases"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6738" y="2074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1988" y="20745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48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01238" y="2074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7988" y="2312670"/>
              <a:ext cx="10757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"approved_count"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6738" y="23126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1988" y="23126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32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01238" y="23126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7988" y="2550795"/>
              <a:ext cx="10454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"rejected_count"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6738" y="2550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1988" y="25507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56C6C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01238" y="2550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7988" y="27889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"pending_count"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86738" y="27889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1988" y="27889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01238" y="27889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988" y="30270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"approval_rate"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86738" y="3027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81988" y="302704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0.667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01238" y="3027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7988" y="3265170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"period"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86738" y="3265170"/>
              <a:ext cx="1791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{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988" y="326517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"start"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3488" y="3265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48738" y="3265170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"2000-01-01"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01238" y="3265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91738" y="326517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"end"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72738" y="3265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67988" y="3265170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"2026-07-10"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25238" y="3265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5112" y="3503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62" name="Rectangle 62"/>
          <p:cNvSpPr/>
          <p:nvPr/>
        </p:nvSpPr>
        <p:spPr>
          <a:xfrm>
            <a:off x="6286500" y="361950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18529" y="3775710"/>
            <a:ext cx="26607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GET /api/v1/statistics/by-type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6519862" y="4141470"/>
            <a:ext cx="5457788" cy="1176337"/>
            <a:chOff x="6519862" y="4141470"/>
            <a:chExt cx="5457788" cy="1176337"/>
          </a:xfrm>
        </p:grpSpPr>
        <p:sp>
          <p:nvSpPr>
            <p:cNvPr id="64" name="TextBox 64"/>
            <p:cNvSpPr txBox="1"/>
            <p:nvPr/>
          </p:nvSpPr>
          <p:spPr>
            <a:xfrm>
              <a:off x="6615112" y="41414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10362" y="4141470"/>
              <a:ext cx="4699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"items"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24738" y="4141470"/>
              <a:ext cx="1791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[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10362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05612" y="4379595"/>
              <a:ext cx="98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"violation_type"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8673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81988" y="437959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"speeding"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52023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15488" y="437959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"count"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9173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86988" y="43795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18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7273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67988" y="4379595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"percentage"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2523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20488" y="43795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56.3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901488" y="4379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10362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05612" y="4617720"/>
              <a:ext cx="98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"violation_type"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18673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81988" y="461772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"parking"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2023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15488" y="461772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"count"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09173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8698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47273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567988" y="4617720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"percentage"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42523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20488" y="461772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25.0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901488" y="4617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15112" y="4855845"/>
              <a:ext cx="1791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] }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519862" y="5141595"/>
              <a:ext cx="16469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Consolas"/>
                  <a:ea typeface="Microsoft YaHei"/>
                  <a:cs typeface="Consolas"/>
                </a:rPr>
                <a:t>→ 前端 ECharts 饼图直接消费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07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371636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AI 接口层 — 适配器模式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2190750"/>
          </a:xfrm>
          <a:prstGeom prst="roundRect">
            <a:avLst>
              <a:gd name="adj" fmla="val 3478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9889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四个 AI 端点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99922" y="1533049"/>
            <a:ext cx="3642970" cy="1705165"/>
            <a:chOff x="899922" y="1533049"/>
            <a:chExt cx="3642970" cy="1705165"/>
          </a:xfrm>
        </p:grpSpPr>
        <p:sp>
          <p:nvSpPr>
            <p:cNvPr id="8" name="TextBox 8"/>
            <p:cNvSpPr txBox="1"/>
            <p:nvPr/>
          </p:nvSpPr>
          <p:spPr>
            <a:xfrm>
              <a:off x="899922" y="153304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8547" y="1533049"/>
              <a:ext cx="1611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/internal/ai/yolo/detect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09797" y="1533049"/>
              <a:ext cx="833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YOLOv8 检测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797" y="1771174"/>
              <a:ext cx="2713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上传图片 → 返回车辆/车牌 bbox + confidence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922" y="2037874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8547" y="2037874"/>
              <a:ext cx="146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/internal/ai/ocr/plate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9797" y="2037874"/>
              <a:ext cx="585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OCR 车牌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922" y="2304574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8547" y="2304574"/>
              <a:ext cx="17949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/internal/ai/rules/evaluate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9797" y="23045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规则判定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797" y="2542699"/>
              <a:ext cx="2707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检测结果 + OCR + 车辆信息 + 规则 → 证据链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9922" y="280939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POST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8547" y="2809399"/>
              <a:ext cx="1637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/internal/ai/review/text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9797" y="2809399"/>
              <a:ext cx="585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6C6C"/>
                  </a:solidFill>
                  <a:latin typeface="Consolas"/>
                  <a:ea typeface="Microsoft YaHei"/>
                  <a:cs typeface="Consolas"/>
                </a:rPr>
                <a:t>LLM 初审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97" y="3047524"/>
              <a:ext cx="2969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综合所有证据 → suggest_approve / need_review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4290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5904" y="3585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适配器模式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00112" y="3903345"/>
            <a:ext cx="3378988" cy="1366837"/>
            <a:chOff x="900112" y="3903345"/>
            <a:chExt cx="3378988" cy="1366837"/>
          </a:xfrm>
        </p:grpSpPr>
        <p:sp>
          <p:nvSpPr>
            <p:cNvPr id="26" name="TextBox 26"/>
            <p:cNvSpPr txBox="1"/>
            <p:nvPr/>
          </p:nvSpPr>
          <p:spPr>
            <a:xfrm>
              <a:off x="900112" y="3903345"/>
              <a:ext cx="20591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# adapters/base.py — ABC 抽象接口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0112" y="4141470"/>
              <a:ext cx="15392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YoloDetector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(ABC):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2988" y="4360545"/>
              <a:ext cx="10333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@abstractmethod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988" y="4579620"/>
              <a:ext cx="3236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detect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(self, image_path) -&gt; </a:t>
              </a:r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DetectionResult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: ...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0112" y="4855845"/>
              <a:ext cx="18690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# adapters/stub.py — Stub 实现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112" y="5093970"/>
              <a:ext cx="23740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StubYoloDetector</a:t>
              </a:r>
              <a:r>
                <a:rPr lang="en-US" sz="90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(YoloDetector):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286500" y="1047750"/>
            <a:ext cx="5334000" cy="2286000"/>
          </a:xfrm>
          <a:prstGeom prst="roundRect">
            <a:avLst>
              <a:gd name="adj" fmla="val 3333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18529" y="1203960"/>
            <a:ext cx="25633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POST /internal/ai/yolo/detect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6519862" y="1569720"/>
            <a:ext cx="3076538" cy="1890712"/>
            <a:chOff x="6519862" y="1569720"/>
            <a:chExt cx="3076538" cy="1890712"/>
          </a:xfrm>
        </p:grpSpPr>
        <p:sp>
          <p:nvSpPr>
            <p:cNvPr id="35" name="TextBox 35"/>
            <p:cNvSpPr txBox="1"/>
            <p:nvPr/>
          </p:nvSpPr>
          <p:spPr>
            <a:xfrm>
              <a:off x="6519862" y="1569720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899AA"/>
                  </a:solidFill>
                  <a:latin typeface="Consolas"/>
                  <a:ea typeface="Consolas"/>
                  <a:cs typeface="Consolas"/>
                </a:rPr>
                <a:t>// multipart/form-data → image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9862" y="18554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738" y="2093595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"objects"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9988" y="209359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[{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3238" y="233172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"class"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9988" y="2331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5238" y="233172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"car"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20238" y="2331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53238" y="2569845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"bbox"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9988" y="2569845"/>
              <a:ext cx="13119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 [100,200,300,350],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53238" y="2807970"/>
              <a:ext cx="778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"confidence"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19988" y="28079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15238" y="280797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0.92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2738" y="30460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}],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2738" y="3046095"/>
              <a:ext cx="972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"model_version"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00988" y="3046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6238" y="3046095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"stub-yolov8n"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19862" y="32842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54" name="Rectangle 54"/>
          <p:cNvSpPr/>
          <p:nvPr/>
        </p:nvSpPr>
        <p:spPr>
          <a:xfrm>
            <a:off x="6286500" y="3524250"/>
            <a:ext cx="5334000" cy="1714500"/>
          </a:xfrm>
          <a:prstGeom prst="roundRect">
            <a:avLst>
              <a:gd name="adj" fmla="val 4444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18529" y="3680460"/>
            <a:ext cx="2597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00D4FF"/>
                </a:solidFill>
                <a:latin typeface="Segoe UI"/>
                <a:ea typeface="Segoe UI"/>
                <a:cs typeface="Segoe UI"/>
              </a:rPr>
              <a:t>POST /internal/ai/review/text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519862" y="4046220"/>
            <a:ext cx="3457538" cy="1414462"/>
            <a:chOff x="6519862" y="4046220"/>
            <a:chExt cx="3457538" cy="1414462"/>
          </a:xfrm>
        </p:grpSpPr>
        <p:sp>
          <p:nvSpPr>
            <p:cNvPr id="56" name="TextBox 56"/>
            <p:cNvSpPr txBox="1"/>
            <p:nvPr/>
          </p:nvSpPr>
          <p:spPr>
            <a:xfrm>
              <a:off x="6519862" y="4046220"/>
              <a:ext cx="16852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// JSON body — 综合所有证据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5112" y="43319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7988" y="4570095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"conclusion"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00988" y="4570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6238" y="4570095"/>
              <a:ext cx="11423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7C23A"/>
                  </a:solidFill>
                  <a:latin typeface="Consolas"/>
                  <a:ea typeface="Consolas"/>
                  <a:cs typeface="Consolas"/>
                </a:rPr>
                <a:t>"suggest_approve"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01238" y="4570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57988" y="4808220"/>
              <a:ext cx="778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"confidence"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00988" y="48082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96238" y="480822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0.88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01238" y="48082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57988" y="504634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"reason"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00988" y="5046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96238" y="50463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7C23A"/>
                  </a:solidFill>
                  <a:latin typeface="Consolas"/>
                  <a:ea typeface="Microsoft YaHei"/>
                  <a:cs typeface="Consolas"/>
                </a:rPr>
                <a:t>"车速80，限速60，超速33%"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5112" y="52844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0C4CC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08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346769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数据库设计 + 权限模型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6285" y="119300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用户权限层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1445895"/>
            <a:ext cx="47589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0C4CC"/>
                </a:solidFill>
                <a:latin typeface="Consolas"/>
                <a:ea typeface="Consolas"/>
                <a:cs typeface="Consolas"/>
              </a:rPr>
              <a:t>roles (id, code, name) · users (id, username, password_hash, role_id, status)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1664970"/>
            <a:ext cx="34382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→ seed_data: citizen / reviewer / admin / camera 四种角色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143125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6285" y="2288381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摄入管线层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0112" y="2541270"/>
            <a:ext cx="44499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0C4CC"/>
                </a:solidFill>
                <a:latin typeface="Consolas"/>
                <a:ea typeface="Consolas"/>
                <a:cs typeface="Consolas"/>
              </a:rPr>
              <a:t>intake_events · media_assets · cases · camera_devices · camera_api_keys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112" y="2760345"/>
            <a:ext cx="35895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→ SHA-256 去重 · case_no / violation_no 自动生成 · 8 状态流转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323850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6285" y="338375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违章归档层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0112" y="3636645"/>
            <a:ext cx="42500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0C4CC"/>
                </a:solidFill>
                <a:latin typeface="Consolas"/>
                <a:ea typeface="Consolas"/>
                <a:cs typeface="Consolas"/>
              </a:rPr>
              <a:t>vehicles · violations · notifications · notification_templates · rewards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0112" y="3855720"/>
            <a:ext cx="32565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→ notify 不阻断归档 · vehicle 不存在时 violation 仍然创建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4333875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6285" y="4479131"/>
            <a:ext cx="118757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AI + 系统配置层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112" y="4732020"/>
            <a:ext cx="5673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0C4CC"/>
                </a:solidFill>
                <a:latin typeface="Consolas"/>
                <a:ea typeface="Consolas"/>
                <a:cs typeface="Consolas"/>
              </a:rPr>
              <a:t>ai_detection_results · violation_rule_results · ai_review_results · violation_rules · audit_logs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0112" y="4951095"/>
            <a:ext cx="3742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→ AI 结果 append-only · API Key 只存 SHA-256 · 9 次 Alembic 迁移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81750" y="1047750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13779" y="120396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四角色权限矩阵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19875" y="1476375"/>
            <a:ext cx="4762500" cy="238125"/>
          </a:xfrm>
          <a:prstGeom prst="roundRect">
            <a:avLst>
              <a:gd name="adj" fmla="val 12000"/>
            </a:avLst>
          </a:prstGeom>
          <a:solidFill>
            <a:srgbClr val="1A305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57988" y="1550670"/>
            <a:ext cx="2639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0E0E0"/>
                </a:solidFill>
                <a:latin typeface="Segoe UI"/>
                <a:ea typeface="Microsoft YaHei"/>
                <a:cs typeface="Segoe UI"/>
              </a:rPr>
              <a:t>操作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26048" y="15506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0E0E0"/>
                </a:solidFill>
                <a:latin typeface="Segoe UI"/>
                <a:ea typeface="Segoe UI"/>
                <a:cs typeface="Segoe UI"/>
              </a:rPr>
              <a:t>citizen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22719" y="1550670"/>
            <a:ext cx="5365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0E0E0"/>
                </a:solidFill>
                <a:latin typeface="Segoe UI"/>
                <a:ea typeface="Segoe UI"/>
                <a:cs typeface="Segoe UI"/>
              </a:rPr>
              <a:t>reviewer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79924" y="1550670"/>
            <a:ext cx="3366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0E0E0"/>
                </a:solidFill>
                <a:latin typeface="Segoe UI"/>
                <a:ea typeface="Segoe UI"/>
                <a:cs typeface="Segoe UI"/>
              </a:rPr>
              <a:t>admin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88711" y="1550670"/>
            <a:ext cx="4335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0E0E0"/>
                </a:solidFill>
                <a:latin typeface="Segoe UI"/>
                <a:ea typeface="Segoe UI"/>
                <a:cs typeface="Segoe UI"/>
              </a:rPr>
              <a:t>camera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3245777" y="1733550"/>
            <a:ext cx="8136598" cy="1183957"/>
            <a:chOff x="3245777" y="1733550"/>
            <a:chExt cx="8136598" cy="1183957"/>
          </a:xfrm>
        </p:grpSpPr>
        <p:sp>
          <p:nvSpPr>
            <p:cNvPr id="30" name="Rectangle 30"/>
            <p:cNvSpPr/>
            <p:nvPr/>
          </p:nvSpPr>
          <p:spPr>
            <a:xfrm>
              <a:off x="6619875" y="1733550"/>
              <a:ext cx="4762500" cy="219075"/>
            </a:xfrm>
            <a:prstGeom prst="roundRect">
              <a:avLst>
                <a:gd name="adj" fmla="val 13043"/>
              </a:avLst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7988" y="17887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随手拍举报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45777" y="1788795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52919" y="1788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10169" y="1788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67419" y="1788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19875" y="1971675"/>
              <a:ext cx="4762500" cy="219075"/>
            </a:xfrm>
            <a:prstGeom prst="roundRect">
              <a:avLst>
                <a:gd name="adj" fmla="val 13043"/>
              </a:avLst>
            </a:prstGeom>
            <a:solidFill>
              <a:srgbClr val="0A162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7988" y="20269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提交图片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5777" y="2026920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03027" y="2026920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60277" y="2026920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8896" y="2026920"/>
              <a:ext cx="213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Key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19875" y="2209800"/>
              <a:ext cx="4762500" cy="219075"/>
            </a:xfrm>
            <a:prstGeom prst="roundRect">
              <a:avLst>
                <a:gd name="adj" fmla="val 13043"/>
              </a:avLst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7988" y="2265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审核案件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95669" y="2265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03027" y="2265045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60277" y="2265045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67419" y="2265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19875" y="2447925"/>
              <a:ext cx="4762500" cy="219075"/>
            </a:xfrm>
            <a:prstGeom prst="roundRect">
              <a:avLst>
                <a:gd name="adj" fmla="val 13043"/>
              </a:avLst>
            </a:prstGeom>
            <a:solidFill>
              <a:srgbClr val="0A162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57988" y="25031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查看统计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95669" y="2503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03027" y="2503170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60277" y="2503170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67419" y="25031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19875" y="2686050"/>
              <a:ext cx="4762500" cy="219075"/>
            </a:xfrm>
            <a:prstGeom prst="roundRect">
              <a:avLst>
                <a:gd name="adj" fmla="val 13043"/>
              </a:avLst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57988" y="2741295"/>
              <a:ext cx="1366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C4CC"/>
                  </a:solidFill>
                  <a:latin typeface="Segoe UI"/>
                  <a:ea typeface="Microsoft YaHei"/>
                  <a:cs typeface="Segoe UI"/>
                </a:rPr>
                <a:t>CRUD 用户/摄像头/规则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95669" y="2741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152919" y="2741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60277" y="2741295"/>
              <a:ext cx="1759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7C23A"/>
                  </a:solidFill>
                  <a:latin typeface="Segoe UI"/>
                  <a:ea typeface="Segoe UI"/>
                  <a:cs typeface="Segoe UI"/>
                </a:rPr>
                <a:t>OK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67419" y="2741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6677"/>
                  </a:solidFill>
                  <a:latin typeface="Segoe UI"/>
                  <a:ea typeface="Segoe UI"/>
                  <a:cs typeface="Segoe UI"/>
                </a:rPr>
                <a:t>—</a:t>
              </a:r>
            </a:p>
          </p:txBody>
        </p:sp>
      </p:grpSp>
      <p:sp>
        <p:nvSpPr>
          <p:cNvPr id="61" name="Rectangle 61"/>
          <p:cNvSpPr/>
          <p:nvPr/>
        </p:nvSpPr>
        <p:spPr>
          <a:xfrm>
            <a:off x="6381750" y="3619500"/>
            <a:ext cx="5238750" cy="1619250"/>
          </a:xfrm>
          <a:prstGeom prst="roundRect">
            <a:avLst>
              <a:gd name="adj" fmla="val 4706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13779" y="3775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鉴权实现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6615112" y="4149566"/>
            <a:ext cx="2883370" cy="1038225"/>
            <a:chOff x="6615112" y="4149566"/>
            <a:chExt cx="2883370" cy="1038225"/>
          </a:xfrm>
        </p:grpSpPr>
        <p:sp>
          <p:nvSpPr>
            <p:cNvPr id="63" name="TextBox 63"/>
            <p:cNvSpPr txBox="1"/>
            <p:nvPr/>
          </p:nvSpPr>
          <p:spPr>
            <a:xfrm>
              <a:off x="6615112" y="4149566"/>
              <a:ext cx="20256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# deps.py — FastAPI Depends 依赖注入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5112" y="4368641"/>
              <a:ext cx="17032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82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require_role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(*roles: str):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57988" y="4587716"/>
              <a:ext cx="27404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82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 xml:space="preserve"> checker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(user = Depends(get_current_user)):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00862" y="4806791"/>
              <a:ext cx="1681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 user.role.code </a:t>
              </a:r>
              <a:r>
                <a:rPr lang="en-US" sz="82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not in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 roles: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43738" y="5025866"/>
              <a:ext cx="14139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8DEF"/>
                  </a:solidFill>
                  <a:latin typeface="Consolas"/>
                  <a:ea typeface="Consolas"/>
                  <a:cs typeface="Consolas"/>
                </a:rPr>
                <a:t>raise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 xml:space="preserve"> HTTPException(</a:t>
              </a:r>
              <a:r>
                <a:rPr lang="en-US" sz="820" dirty="0">
                  <a:solidFill>
                    <a:srgbClr val="409EFF"/>
                  </a:solidFill>
                  <a:latin typeface="Consolas"/>
                  <a:ea typeface="Consolas"/>
                  <a:cs typeface="Consolas"/>
                </a:rPr>
                <a:t>403</a:t>
              </a:r>
              <a:r>
                <a:rPr lang="en-US" sz="820" dirty="0">
                  <a:solidFill>
                    <a:srgbClr val="E0E0E0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09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09E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308" y="23622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09EFF"/>
                </a:solidFill>
                <a:latin typeface="Segoe UI"/>
                <a:ea typeface="Microsoft YaHei"/>
                <a:cs typeface="Segoe UI"/>
              </a:rPr>
              <a:t>存在问题与后续计划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305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4642" y="1044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6C6C"/>
                </a:solidFill>
                <a:latin typeface="Segoe UI"/>
                <a:ea typeface="Microsoft YaHei"/>
                <a:cs typeface="Segoe UI"/>
              </a:rPr>
              <a:t>当前问题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0F1D32"/>
          </a:solidFill>
          <a:ln w="9525">
            <a:solidFill>
              <a:srgbClr val="1A305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6666" y="1534478"/>
            <a:ext cx="15902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6C6C"/>
                </a:solidFill>
                <a:latin typeface="Segoe UI"/>
                <a:ea typeface="Microsoft YaHei"/>
                <a:cs typeface="Segoe UI"/>
              </a:rPr>
              <a:t>1. AI 管线为 Stub 占位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7238" y="1769745"/>
            <a:ext cx="36835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YOLO/OCR/LLM 当前返回固定测试数据，待唐高鹏交付真实模型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143125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0F1D32"/>
          </a:solidFill>
          <a:ln w="9525">
            <a:solidFill>
              <a:srgbClr val="1A305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56666" y="2296478"/>
            <a:ext cx="17710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6C6C"/>
                </a:solidFill>
                <a:latin typeface="Segoe UI"/>
                <a:ea typeface="Microsoft YaHei"/>
                <a:cs typeface="Segoe UI"/>
              </a:rPr>
              <a:t>2. Celery 异步管线未启用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238" y="2531745"/>
            <a:ext cx="33199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AI 检测链 (YOLO → OCR → 规则 → LLM) 需 Celery 自动触发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905125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0F1D32"/>
          </a:solidFill>
          <a:ln w="9525">
            <a:solidFill>
              <a:srgbClr val="1A305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56666" y="3058478"/>
            <a:ext cx="16102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6C6C"/>
                </a:solidFill>
                <a:latin typeface="Segoe UI"/>
                <a:ea typeface="Microsoft YaHei"/>
                <a:cs typeface="Segoe UI"/>
              </a:rPr>
              <a:t>3. 部分管理 CRUD 缺失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3293745"/>
            <a:ext cx="28258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驾驶员管理、角色管理、公告管理后端 API 待补充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667125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0F1D32"/>
          </a:solidFill>
          <a:ln w="9525">
            <a:solidFill>
              <a:srgbClr val="1A305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6666" y="3820478"/>
            <a:ext cx="15542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6C6C"/>
                </a:solidFill>
                <a:latin typeface="Segoe UI"/>
                <a:ea typeface="Microsoft YaHei"/>
                <a:cs typeface="Segoe UI"/>
              </a:rPr>
              <a:t>4. 通知采用邮件非短信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4055745"/>
            <a:ext cx="320992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Segoe UI"/>
                <a:ea typeface="Microsoft YaHei"/>
                <a:cs typeface="Segoe UI"/>
              </a:rPr>
              <a:t>个人开发者无法接入短信网关，采用 SMTP 邮件替代方案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79642" y="1044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7C23A"/>
                </a:solidFill>
                <a:latin typeface="Segoe UI"/>
                <a:ea typeface="Microsoft YaHei"/>
                <a:cs typeface="Segoe UI"/>
              </a:rPr>
              <a:t>后续计划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0" y="1381125"/>
            <a:ext cx="5334000" cy="3238500"/>
            <a:chOff x="6286500" y="1381125"/>
            <a:chExt cx="5334000" cy="32385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381125"/>
              <a:ext cx="5334000" cy="809625"/>
            </a:xfrm>
            <a:prstGeom prst="roundRect">
              <a:avLst>
                <a:gd name="adj" fmla="val 9412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57950" y="1666875"/>
              <a:ext cx="228600" cy="228600"/>
            </a:xfrm>
            <a:prstGeom prst="ellipse">
              <a:avLst/>
            </a:prstGeom>
            <a:solidFill>
              <a:srgbClr val="67C2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26101" y="1715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A1628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5041" y="1553528"/>
              <a:ext cx="1374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>AI 模型对接（2周）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5612" y="1788795"/>
              <a:ext cx="33187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替换 4 个 Stub → 真实 YOLO / OCR / 规则引擎 / LLM 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5612" y="1979295"/>
              <a:ext cx="21025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Segoe UI"/>
                  <a:ea typeface="Microsoft YaHei"/>
                  <a:cs typeface="Segoe UI"/>
                </a:rPr>
                <a:t>通过 AI_PROVIDER 环境变量一键切换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2286000"/>
              <a:ext cx="5334000" cy="809625"/>
            </a:xfrm>
            <a:prstGeom prst="roundRect">
              <a:avLst>
                <a:gd name="adj" fmla="val 9412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2571750"/>
              <a:ext cx="228600" cy="228600"/>
            </a:xfrm>
            <a:prstGeom prst="ellipse">
              <a:avLst/>
            </a:prstGeom>
            <a:solidFill>
              <a:srgbClr val="409E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26101" y="2620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5041" y="2458402"/>
              <a:ext cx="1428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>异步管线启动（1周）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5612" y="2693670"/>
              <a:ext cx="38139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Redis + Celery Worker 启动 · Chain: detect → OCR → eval → review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05612" y="2884170"/>
              <a:ext cx="22146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677"/>
                  </a:solidFill>
                  <a:latin typeface="Segoe UI"/>
                  <a:ea typeface="Microsoft YaHei"/>
                  <a:cs typeface="Segoe UI"/>
                </a:rPr>
                <a:t>失败自动回退到 pending_human_review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190875"/>
              <a:ext cx="5334000" cy="666750"/>
            </a:xfrm>
            <a:prstGeom prst="roundRect">
              <a:avLst>
                <a:gd name="adj" fmla="val 11429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457950" y="3409950"/>
              <a:ext cx="228600" cy="228600"/>
            </a:xfrm>
            <a:prstGeom prst="ellipse">
              <a:avLst/>
            </a:prstGeom>
            <a:solidFill>
              <a:srgbClr val="5B8DE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6101" y="3458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5041" y="3296602"/>
              <a:ext cx="1947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>管理后台 CRUD 补全（1周）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05612" y="3531870"/>
              <a:ext cx="31111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驾驶员 /admin/drivers · 角色 /admin/roles · 公告系统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86500" y="3952875"/>
              <a:ext cx="5334000" cy="666750"/>
            </a:xfrm>
            <a:prstGeom prst="roundRect">
              <a:avLst>
                <a:gd name="adj" fmla="val 11429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457950" y="4171950"/>
              <a:ext cx="228600" cy="228600"/>
            </a:xfrm>
            <a:prstGeom prst="ellipse">
              <a:avLst/>
            </a:prstGeom>
            <a:solidFill>
              <a:srgbClr val="8899A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6101" y="4220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5041" y="4058602"/>
              <a:ext cx="1576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>终期答辩准备（3周后）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5612" y="4293870"/>
              <a:ext cx="21857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全功能联调 + API 文档定稿 + 部署上线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71500" y="5143500"/>
            <a:ext cx="11049000" cy="1143000"/>
          </a:xfrm>
          <a:prstGeom prst="roundRect">
            <a:avLst>
              <a:gd name="adj" fmla="val 6667"/>
            </a:avLst>
          </a:prstGeom>
          <a:solidFill>
            <a:srgbClr val="0F1D3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55142" y="53787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当前完成度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36904" y="5775960"/>
            <a:ext cx="5901249" cy="500729"/>
            <a:chOff x="1136904" y="5775960"/>
            <a:chExt cx="5901249" cy="500729"/>
          </a:xfrm>
        </p:grpSpPr>
        <p:sp>
          <p:nvSpPr>
            <p:cNvPr id="45" name="TextBox 45"/>
            <p:cNvSpPr txBox="1"/>
            <p:nvPr/>
          </p:nvSpPr>
          <p:spPr>
            <a:xfrm>
              <a:off x="1136904" y="5775960"/>
              <a:ext cx="4326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44</a:t>
              </a:r>
              <a:r>
                <a:rPr lang="zh-CN" sz="120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个 API 端点 · </a:t>
              </a:r>
              <a:r>
                <a:rPr lang="en-US" sz="210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205</a:t>
              </a:r>
              <a:r>
                <a:rPr lang="zh-CN" sz="120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个自动化测试 · </a:t>
              </a:r>
              <a:r>
                <a:rPr lang="en-US" sz="2100" b="1" dirty="0">
                  <a:solidFill>
                    <a:srgbClr val="409EFF"/>
                  </a:solidFill>
                  <a:latin typeface="Segoe UI"/>
                  <a:ea typeface="Segoe UI"/>
                  <a:cs typeface="Segoe UI"/>
                </a:rPr>
                <a:t>17</a:t>
              </a:r>
              <a:r>
                <a:rPr lang="zh-CN" sz="1200" dirty="0">
                  <a:solidFill>
                    <a:srgbClr val="E0E0E0"/>
                  </a:solidFill>
                  <a:latin typeface="Segoe UI"/>
                  <a:ea typeface="Microsoft YaHei"/>
                  <a:cs typeface="Segoe UI"/>
                </a:rPr>
                <a:t xml:space="preserve"> 张数据表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8047" y="6085999"/>
              <a:ext cx="59001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899AA"/>
                  </a:solidFill>
                  <a:latin typeface="Segoe UI"/>
                  <a:ea typeface="Microsoft YaHei"/>
                  <a:cs typeface="Segoe UI"/>
                </a:rPr>
                <a:t>核心业务闭环（摄入 → 审核 → 归档 → 统计）完整打通 · 前后端集成调试完成 · Stub 预留对接口就绪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2098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56677"/>
                </a:solidFill>
                <a:latin typeface="Consolas"/>
                <a:ea typeface="Consolas"/>
                <a:cs typeface="Consolas"/>
              </a:rPr>
              <a:t>10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2026-07-11T04:15:00Z</dcterms:created>
  <dcterms:modified xsi:type="dcterms:W3CDTF">2026-07-11T04:15:00Z</dcterms:modified>
  <cp:category/>
  <cp:contentStatus/>
</cp:coreProperties>
</file>